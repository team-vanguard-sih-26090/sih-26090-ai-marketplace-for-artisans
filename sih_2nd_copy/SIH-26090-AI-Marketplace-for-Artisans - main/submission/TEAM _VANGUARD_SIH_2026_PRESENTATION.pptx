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ongodb.com/docs/" TargetMode="External"/><Relationship Id="rId13" Type="http://schemas.openxmlformats.org/officeDocument/2006/relationships/hyperlink" Target="https://pub.dev/packages/shared_preferences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fastapi.tiangolo.com/" TargetMode="External"/><Relationship Id="rId12" Type="http://schemas.openxmlformats.org/officeDocument/2006/relationships/hyperlink" Target="https://pub.dev/packages/image_picker" TargetMode="External"/><Relationship Id="rId17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3.material.io/" TargetMode="External"/><Relationship Id="rId11" Type="http://schemas.openxmlformats.org/officeDocument/2006/relationships/hyperlink" Target="https://console.groq.com/docs" TargetMode="External"/><Relationship Id="rId5" Type="http://schemas.openxmlformats.org/officeDocument/2006/relationships/hyperlink" Target="https://dart.dev/guides" TargetMode="External"/><Relationship Id="rId15" Type="http://schemas.openxmlformats.org/officeDocument/2006/relationships/hyperlink" Target="https://cheatsheetseries.owasp.org/cheatsheets/Password_Storage_Cheat_Sheet.html" TargetMode="External"/><Relationship Id="rId10" Type="http://schemas.openxmlformats.org/officeDocument/2006/relationships/hyperlink" Target="https://cloudinary.com/documentation" TargetMode="External"/><Relationship Id="rId4" Type="http://schemas.openxmlformats.org/officeDocument/2006/relationships/hyperlink" Target="https://docs.flutter.dev/" TargetMode="External"/><Relationship Id="rId9" Type="http://schemas.openxmlformats.org/officeDocument/2006/relationships/hyperlink" Target="https://motor.readthedocs.io/" TargetMode="External"/><Relationship Id="rId14" Type="http://schemas.openxmlformats.org/officeDocument/2006/relationships/hyperlink" Target="https://cheatsheetseries.owasp.org/cheatsheets/Authentication_Cheat_Shee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851512"/>
            <a:ext cx="6150990" cy="5198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26090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 Statement  Title-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Al-Driven Market Linkage and Smart Cataloging Mobile Application for Marginalized Artisans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Heritage and Culture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Vanguard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E1135E-FD40-4479-3379-1F74A7847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527" y="154755"/>
            <a:ext cx="1938673" cy="1098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CRAFTCONNECT</a:t>
            </a:r>
            <a:br>
              <a:rPr lang="en-US" sz="3600" dirty="0"/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2" y="838200"/>
            <a:ext cx="6900335" cy="5121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explanation of the proposed solution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Voice-First Application</a:t>
            </a:r>
            <a:r>
              <a:rPr lang="en-US" sz="140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 capture + spoken description yields a fully ready e-commerce listing in seconds.</a:t>
            </a:r>
          </a:p>
          <a:p>
            <a:pPr marL="685800" lvl="1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Auto-Cataloger</a:t>
            </a:r>
            <a:r>
              <a:rPr lang="en-US" sz="140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Generates SEO titles, localized descriptions, and AI-driven market pricing.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addresses the problem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 Tech Barrier</a:t>
            </a:r>
            <a:r>
              <a:rPr lang="en-US" sz="140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Requires no typing, complex image editing, or prior e-commerce skills.</a:t>
            </a:r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Skill Replacement</a:t>
            </a:r>
            <a:r>
              <a:rPr lang="en-US" sz="140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Replaces missing photography, copywriting, and pricing expertise effortlessly.</a:t>
            </a:r>
          </a:p>
          <a:p>
            <a:pPr marL="685800" lvl="1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Storefront</a:t>
            </a:r>
            <a:r>
              <a:rPr lang="en-US" sz="140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Enables year-round digital sales vs. sporadic physical craft fairs.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uniqueness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Pipeline</a:t>
            </a:r>
            <a:r>
              <a:rPr lang="en-US" sz="140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Working end-to-end voice-to-listing pipeline demoed on authentic handicraft items.</a:t>
            </a:r>
          </a:p>
          <a:p>
            <a:pPr marL="685800" lvl="1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Pricing</a:t>
            </a:r>
            <a:r>
              <a:rPr lang="en-US" sz="140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Price recommendations backed by transparent market rationale.</a:t>
            </a:r>
          </a:p>
          <a:p>
            <a:pPr marL="685800" lvl="1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Multilingual First</a:t>
            </a:r>
            <a:r>
              <a:rPr lang="en-US" sz="1400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Engineered for regional languages and low-literacy artisan sellers.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640667" y="6356353"/>
            <a:ext cx="9372598" cy="50164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  SIH 2026                                                                                                                             2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60713"/>
            <a:ext cx="15328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Vanguard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C2DC36-ED26-480A-F72E-7EEF3D44C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952" y="1272869"/>
            <a:ext cx="5422047" cy="42225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1B6C59-D734-837C-418F-3669DBB7F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1849" y="201272"/>
            <a:ext cx="2102895" cy="10631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1333B9-F383-FAD3-722A-6831FADE5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333" y="1362565"/>
            <a:ext cx="4951011" cy="42510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2026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E28EEE03-275E-CBBD-8D84-292A32333D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413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Vanguard</a:t>
            </a:r>
          </a:p>
        </p:txBody>
      </p:sp>
      <p:pic>
        <p:nvPicPr>
          <p:cNvPr id="4" name="Picture 3" descr="AI generated image">
            <a:extLst>
              <a:ext uri="{FF2B5EF4-FFF2-40B4-BE49-F238E27FC236}">
                <a16:creationId xmlns:a16="http://schemas.microsoft.com/office/drawing/2014/main" id="{4588828C-5EF7-9FDC-5C7C-A08D13CC0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00" y="966030"/>
            <a:ext cx="6890227" cy="53095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D6EE7-17BB-3442-4965-56738745B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5582" y="222525"/>
            <a:ext cx="2138918" cy="10813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0A8418-7602-CD58-4234-9E0746B76C1B}"/>
              </a:ext>
            </a:extLst>
          </p:cNvPr>
          <p:cNvSpPr txBox="1"/>
          <p:nvPr/>
        </p:nvSpPr>
        <p:spPr>
          <a:xfrm>
            <a:off x="258020" y="1134947"/>
            <a:ext cx="3763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Technology Stack</a:t>
            </a:r>
          </a:p>
        </p:txBody>
      </p:sp>
      <p:pic>
        <p:nvPicPr>
          <p:cNvPr id="2" name="Picture 1" descr="AI generated image">
            <a:extLst>
              <a:ext uri="{FF2B5EF4-FFF2-40B4-BE49-F238E27FC236}">
                <a16:creationId xmlns:a16="http://schemas.microsoft.com/office/drawing/2014/main" id="{DD031727-D9C5-5A07-6610-C0A993BE7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7" y="1632407"/>
            <a:ext cx="4775199" cy="45138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" y="1118657"/>
            <a:ext cx="5257800" cy="3570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the feasibility of the idea</a:t>
            </a:r>
            <a:endParaRPr lang="en-US" sz="20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already built and demoed end-to-end: photo → AI enhancement → voice → priced listing.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Image Studio and Auto Catalog run live on real handicraft photos and voice notes.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mature AI services (vision, speech-to-text, NLP, pricing logic).</a:t>
            </a:r>
          </a:p>
          <a:p>
            <a:pPr marL="342900" lvl="1">
              <a:spcAft>
                <a:spcPts val="200"/>
              </a:spcAft>
              <a:buSzPct val="100000"/>
            </a:pPr>
            <a:endParaRPr lang="en-US" sz="1150" dirty="0">
              <a:solidFill>
                <a:srgbClr val="2222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150" dirty="0">
              <a:solidFill>
                <a:srgbClr val="222222"/>
              </a:solidFill>
              <a:latin typeface="Arial" pitchFamily="34" charset="0"/>
              <a:cs typeface="Arial" pitchFamily="34" charset="-120"/>
            </a:endParaRPr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400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2026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5"/>
            <a:ext cx="1515960" cy="92462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Vanguard</a:t>
            </a:r>
          </a:p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9DE75-E0EA-CED4-DEF1-143ECDFB5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402" y="136522"/>
            <a:ext cx="2057825" cy="1040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A8F5F8-133E-C4DB-2A7E-2C5360442D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904"/>
          <a:stretch>
            <a:fillRect/>
          </a:stretch>
        </p:blipFill>
        <p:spPr>
          <a:xfrm>
            <a:off x="5348366" y="2054156"/>
            <a:ext cx="6278704" cy="34110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8B32BB-A7CF-8F6B-CA52-45FF088E8C2B}"/>
              </a:ext>
            </a:extLst>
          </p:cNvPr>
          <p:cNvSpPr txBox="1"/>
          <p:nvPr/>
        </p:nvSpPr>
        <p:spPr>
          <a:xfrm>
            <a:off x="5560489" y="1279522"/>
            <a:ext cx="6096000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>
              <a:spcAft>
                <a:spcPts val="200"/>
              </a:spcAft>
              <a:buSzPct val="100000"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risks vs. mitigation strategies</a:t>
            </a:r>
          </a:p>
          <a:p>
            <a:pPr marL="342900" lvl="1">
              <a:spcAft>
                <a:spcPts val="200"/>
              </a:spcAft>
              <a:buSzPct val="100000"/>
            </a:pP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6B58B4-7C4E-4AC7-EF93-1068787F7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641" y="3750473"/>
            <a:ext cx="3525160" cy="248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61999" y="1395246"/>
            <a:ext cx="9668933" cy="2362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digital storefront instead of relying on periodic fairs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technical/design skills needed — artisans just speak and photograph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access to B2B buyers and government e-marketplaces</a:t>
            </a:r>
            <a:endParaRPr lang="en-US" sz="1600" dirty="0"/>
          </a:p>
          <a:p>
            <a:pPr algn="just">
              <a:defRPr/>
            </a:pPr>
            <a:r>
              <a:rPr lang="en-US" sz="16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</a:t>
            </a:r>
          </a:p>
          <a:p>
            <a:pPr algn="just">
              <a:defRPr/>
            </a:pPr>
            <a:endParaRPr lang="en-US" sz="1600" b="1" dirty="0">
              <a:solidFill>
                <a:srgbClr val="1F5FA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>
              <a:defRPr/>
            </a:pPr>
            <a:endParaRPr lang="en-US" sz="1600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</a:rPr>
              <a:t>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5"/>
            <a:ext cx="1524427" cy="92462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Vanguard</a:t>
            </a:r>
          </a:p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370CE9-3F9D-C6D1-EB6B-66520121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10261"/>
            <a:ext cx="10664259" cy="3127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263979-CF60-44AC-93A1-4A599327C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627" y="108187"/>
            <a:ext cx="2113873" cy="1068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90C719-ABF2-6E3A-CCBA-EDEC9A2A7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81" y="1251187"/>
            <a:ext cx="11202371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t>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2026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5"/>
            <a:ext cx="1532894" cy="84312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Vanguard</a:t>
            </a: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C7F0A-AA84-4640-7BC7-E1D02EFDE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516" y="136522"/>
            <a:ext cx="2108067" cy="10657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D5301E-D7FC-8900-4E1C-B7EC6D18C59E}"/>
              </a:ext>
            </a:extLst>
          </p:cNvPr>
          <p:cNvSpPr txBox="1"/>
          <p:nvPr/>
        </p:nvSpPr>
        <p:spPr>
          <a:xfrm>
            <a:off x="3996267" y="1202267"/>
            <a:ext cx="795231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Flutter Documentation - </a:t>
            </a:r>
            <a:r>
              <a:rPr lang="en-IN" dirty="0">
                <a:hlinkClick r:id="rId4"/>
              </a:rPr>
              <a:t>https://docs.flutter.dev/</a:t>
            </a:r>
            <a:endParaRPr lang="en-IN" dirty="0"/>
          </a:p>
          <a:p>
            <a:r>
              <a:rPr lang="en-IN" dirty="0"/>
              <a:t>Dart Programming Language Documentation - </a:t>
            </a:r>
            <a:r>
              <a:rPr lang="en-IN" dirty="0">
                <a:hlinkClick r:id="rId5"/>
              </a:rPr>
              <a:t>https://dart.dev/guides</a:t>
            </a:r>
            <a:endParaRPr lang="en-IN" dirty="0"/>
          </a:p>
          <a:p>
            <a:r>
              <a:rPr lang="en-IN" dirty="0"/>
              <a:t>Flutter Material Design Components - </a:t>
            </a:r>
            <a:r>
              <a:rPr lang="en-IN" dirty="0">
                <a:hlinkClick r:id="rId6"/>
              </a:rPr>
              <a:t>https://m3.material.io/</a:t>
            </a:r>
            <a:endParaRPr lang="en-IN" dirty="0"/>
          </a:p>
          <a:p>
            <a:r>
              <a:rPr lang="en-IN" dirty="0" err="1"/>
              <a:t>FastAPI</a:t>
            </a:r>
            <a:r>
              <a:rPr lang="en-IN" dirty="0"/>
              <a:t> Documentation - </a:t>
            </a:r>
            <a:r>
              <a:rPr lang="en-IN" dirty="0">
                <a:hlinkClick r:id="rId7"/>
              </a:rPr>
              <a:t>https://fastapi.tiangolo.com/</a:t>
            </a:r>
            <a:endParaRPr lang="en-IN" dirty="0"/>
          </a:p>
          <a:p>
            <a:r>
              <a:rPr lang="en-IN" dirty="0"/>
              <a:t>MongoDB Documentation - </a:t>
            </a:r>
            <a:r>
              <a:rPr lang="en-IN" dirty="0">
                <a:hlinkClick r:id="rId8"/>
              </a:rPr>
              <a:t>https://www.mongodb.com/docs/</a:t>
            </a:r>
            <a:endParaRPr lang="en-IN" dirty="0"/>
          </a:p>
          <a:p>
            <a:r>
              <a:rPr lang="en-IN" dirty="0"/>
              <a:t>Motor – Asynchronous MongoDB Driver for Python - </a:t>
            </a:r>
            <a:r>
              <a:rPr lang="en-IN" dirty="0">
                <a:hlinkClick r:id="rId9"/>
              </a:rPr>
              <a:t>https://motor.readthedocs.io/</a:t>
            </a:r>
            <a:endParaRPr lang="en-IN" dirty="0"/>
          </a:p>
          <a:p>
            <a:r>
              <a:rPr lang="en-IN" dirty="0" err="1"/>
              <a:t>Cloudinary</a:t>
            </a:r>
            <a:r>
              <a:rPr lang="en-IN" dirty="0"/>
              <a:t> Image Management Documentation - </a:t>
            </a:r>
            <a:r>
              <a:rPr lang="en-IN" dirty="0">
                <a:hlinkClick r:id="rId10"/>
              </a:rPr>
              <a:t>https://cloudinary.com/documentation</a:t>
            </a:r>
            <a:endParaRPr lang="en-IN" dirty="0"/>
          </a:p>
          <a:p>
            <a:r>
              <a:rPr lang="en-IN" dirty="0" err="1"/>
              <a:t>Groq</a:t>
            </a:r>
            <a:r>
              <a:rPr lang="en-IN" dirty="0"/>
              <a:t> API Documentation - </a:t>
            </a:r>
            <a:r>
              <a:rPr lang="en-IN" dirty="0">
                <a:hlinkClick r:id="rId11"/>
              </a:rPr>
              <a:t>https://console.groq.com/docs</a:t>
            </a:r>
            <a:endParaRPr lang="en-IN" dirty="0"/>
          </a:p>
          <a:p>
            <a:r>
              <a:rPr lang="en-IN" dirty="0"/>
              <a:t>Flutter Image Picker Package - </a:t>
            </a:r>
            <a:r>
              <a:rPr lang="en-IN" dirty="0">
                <a:hlinkClick r:id="rId12"/>
              </a:rPr>
              <a:t>https://pub.dev/packages/image_picker</a:t>
            </a:r>
            <a:endParaRPr lang="en-IN" dirty="0"/>
          </a:p>
          <a:p>
            <a:r>
              <a:rPr lang="en-IN" dirty="0"/>
              <a:t>Flutter Shared Preferences Package - </a:t>
            </a:r>
            <a:r>
              <a:rPr lang="en-IN" dirty="0">
                <a:hlinkClick r:id="rId13"/>
              </a:rPr>
              <a:t>https://pub.dev/packages/shared_preferences</a:t>
            </a:r>
            <a:endParaRPr lang="en-IN" dirty="0"/>
          </a:p>
          <a:p>
            <a:r>
              <a:rPr lang="en-IN" dirty="0"/>
              <a:t>OWASP Authentication Security Guidelines- </a:t>
            </a:r>
            <a:r>
              <a:rPr lang="en-IN" dirty="0">
                <a:hlinkClick r:id="rId14"/>
              </a:rPr>
              <a:t>https://cheatsheetseries.owasp.org/cheatsheets/Authentication_Cheat_Sheet.html</a:t>
            </a:r>
            <a:endParaRPr lang="en-IN" dirty="0"/>
          </a:p>
          <a:p>
            <a:r>
              <a:rPr lang="en-IN" dirty="0"/>
              <a:t>OWASP Password Storage Guidelines- </a:t>
            </a:r>
            <a:r>
              <a:rPr lang="en-IN" dirty="0">
                <a:hlinkClick r:id="rId15"/>
              </a:rPr>
              <a:t>https://cheatsheetseries.owasp.org/cheatsheets/Password_Storage_Cheat_Sheet.html</a:t>
            </a:r>
            <a:endParaRPr lang="en-IN" dirty="0"/>
          </a:p>
        </p:txBody>
      </p:sp>
      <p:pic>
        <p:nvPicPr>
          <p:cNvPr id="4" name="Picture 3" descr="AI generated image">
            <a:extLst>
              <a:ext uri="{FF2B5EF4-FFF2-40B4-BE49-F238E27FC236}">
                <a16:creationId xmlns:a16="http://schemas.microsoft.com/office/drawing/2014/main" id="{B2DA8FCD-ADFF-6323-2962-DE8E69AF710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417" y="1446555"/>
            <a:ext cx="3981450" cy="3499068"/>
          </a:xfrm>
          <a:prstGeom prst="rect">
            <a:avLst/>
          </a:prstGeom>
        </p:spPr>
      </p:pic>
      <p:pic>
        <p:nvPicPr>
          <p:cNvPr id="8" name="Picture 7" descr="AI generated image">
            <a:extLst>
              <a:ext uri="{FF2B5EF4-FFF2-40B4-BE49-F238E27FC236}">
                <a16:creationId xmlns:a16="http://schemas.microsoft.com/office/drawing/2014/main" id="{CC28F1EB-AFEA-EF5E-7E4E-8CF0154D921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-10886" t="-8207" r="81630" b="67995"/>
          <a:stretch>
            <a:fillRect/>
          </a:stretch>
        </p:blipFill>
        <p:spPr>
          <a:xfrm>
            <a:off x="243417" y="4593528"/>
            <a:ext cx="607830" cy="1393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921C7B-0A7B-21BE-B3DB-B53C76CAAC98}"/>
              </a:ext>
            </a:extLst>
          </p:cNvPr>
          <p:cNvSpPr txBox="1"/>
          <p:nvPr/>
        </p:nvSpPr>
        <p:spPr>
          <a:xfrm>
            <a:off x="406187" y="4576595"/>
            <a:ext cx="13800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 err="1"/>
              <a:t>Groq</a:t>
            </a:r>
            <a:r>
              <a:rPr lang="en-IN" sz="800" b="1" dirty="0"/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7758</TotalTime>
  <Words>487</Words>
  <Application>Microsoft Office PowerPoint</Application>
  <PresentationFormat>Widescreen</PresentationFormat>
  <Paragraphs>75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CRAFTCONNECT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Saavi Jain</cp:lastModifiedBy>
  <cp:revision>154</cp:revision>
  <dcterms:created xsi:type="dcterms:W3CDTF">2013-12-12T18:46:50Z</dcterms:created>
  <dcterms:modified xsi:type="dcterms:W3CDTF">2026-09-10T17:09:41Z</dcterms:modified>
  <cp:category/>
</cp:coreProperties>
</file>